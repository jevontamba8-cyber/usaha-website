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2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0" y="-1371600"/>
            <a:ext cx="5943600" cy="5943600"/>
          </a:xfrm>
          <a:prstGeom prst="roundRect">
            <a:avLst/>
          </a:prstGeom>
          <a:solidFill>
            <a:srgbClr val="2B1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1280160" cy="12801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2468880" y="1371600"/>
            <a:ext cx="3840480" cy="411480"/>
          </a:xfrm>
          <a:prstGeom prst="roundRect">
            <a:avLst/>
          </a:prstGeom>
          <a:solidFill>
            <a:srgbClr val="352015"/>
          </a:solidFill>
          <a:ln>
            <a:solidFill>
              <a:srgbClr val="D977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59E0B"/>
                </a:solidFill>
                <a:latin typeface="Arial"/>
              </a:defRPr>
            </a:pPr>
            <a:r>
              <a:t>BRWNWEB • WEBSITE CREATION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9601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4000">
                <a:solidFill>
                  <a:srgbClr val="FFFFFF"/>
                </a:solidFill>
                <a:latin typeface="Arial"/>
              </a:defRPr>
            </a:pPr>
            <a:r>
              <a:t>Jasa Pembuatan Website</a:t>
            </a:r>
            <a:br/>
            <a:r>
              <a:t>Custom &amp; Professional</a:t>
            </a:r>
          </a:p>
          <a:p>
            <a:pPr>
              <a:spcBef>
                <a:spcPts val="1600"/>
              </a:spcBef>
              <a:defRPr sz="1600">
                <a:solidFill>
                  <a:srgbClr val="D1C5BD"/>
                </a:solidFill>
                <a:latin typeface="Calibri"/>
              </a:defRPr>
            </a:pPr>
            <a:r>
              <a:t>Solusi Desain Modern, Cepat, Responsif, &amp; Terjangkau untuk Mendongkrak Kredibilitas Bisnis Anda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937760"/>
            <a:ext cx="2240280" cy="1097280"/>
          </a:xfrm>
          <a:prstGeom prst="roundRect">
            <a:avLst/>
          </a:prstGeom>
          <a:solidFill>
            <a:srgbClr val="28180F"/>
          </a:solidFill>
          <a:ln>
            <a:solidFill>
              <a:srgbClr val="4A2E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F59E0B"/>
                </a:solidFill>
              </a:defRPr>
            </a:pPr>
            <a:r>
              <a:t>9+</a:t>
            </a:r>
          </a:p>
          <a:p>
            <a:pPr algn="ctr">
              <a:defRPr sz="1100">
                <a:solidFill>
                  <a:srgbClr val="D1C5BD"/>
                </a:solidFill>
              </a:defRPr>
            </a:pPr>
            <a:r>
              <a:t>Website Selesai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4937760"/>
            <a:ext cx="2240280" cy="1097280"/>
          </a:xfrm>
          <a:prstGeom prst="roundRect">
            <a:avLst/>
          </a:prstGeom>
          <a:solidFill>
            <a:srgbClr val="28180F"/>
          </a:solidFill>
          <a:ln>
            <a:solidFill>
              <a:srgbClr val="4A2E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F59E0B"/>
                </a:solidFill>
              </a:defRPr>
            </a:pPr>
            <a:r>
              <a:t>99.9%</a:t>
            </a:r>
          </a:p>
          <a:p>
            <a:pPr algn="ctr">
              <a:defRPr sz="1100">
                <a:solidFill>
                  <a:srgbClr val="D1C5BD"/>
                </a:solidFill>
              </a:defRPr>
            </a:pPr>
            <a:r>
              <a:t>Garansi Uptime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4937760"/>
            <a:ext cx="2240280" cy="1097280"/>
          </a:xfrm>
          <a:prstGeom prst="roundRect">
            <a:avLst/>
          </a:prstGeom>
          <a:solidFill>
            <a:srgbClr val="28180F"/>
          </a:solidFill>
          <a:ln>
            <a:solidFill>
              <a:srgbClr val="4A2E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F59E0B"/>
                </a:solidFill>
              </a:defRPr>
            </a:pPr>
            <a:r>
              <a:t>100%</a:t>
            </a:r>
          </a:p>
          <a:p>
            <a:pPr algn="ctr">
              <a:defRPr sz="1100">
                <a:solidFill>
                  <a:srgbClr val="D1C5BD"/>
                </a:solidFill>
              </a:defRPr>
            </a:pPr>
            <a:r>
              <a:t>Kepuasan Klien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4937760"/>
            <a:ext cx="2240280" cy="1097280"/>
          </a:xfrm>
          <a:prstGeom prst="roundRect">
            <a:avLst/>
          </a:prstGeom>
          <a:solidFill>
            <a:srgbClr val="28180F"/>
          </a:solidFill>
          <a:ln>
            <a:solidFill>
              <a:srgbClr val="4A2E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2200">
                <a:solidFill>
                  <a:srgbClr val="F59E0B"/>
                </a:solidFill>
              </a:defRPr>
            </a:pPr>
            <a:r>
              <a:t>1-3 Hari</a:t>
            </a:r>
          </a:p>
          <a:p>
            <a:pPr algn="ctr">
              <a:defRPr sz="1100">
                <a:solidFill>
                  <a:srgbClr val="D1C5BD"/>
                </a:solidFill>
              </a:defRPr>
            </a:pPr>
            <a:r>
              <a:t>Pengerjaan Cepat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9E8D82"/>
                </a:solidFill>
              </a:defRPr>
            </a:pPr>
            <a:r>
              <a:t>🌐 Official Website: https://brwnweb-official.vercel.app/   |   📞 WhatsApp: +62 812-8532-4814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F0E4D5"/>
          </a:solidFill>
          <a:ln w="12700">
            <a:solidFill>
              <a:srgbClr val="D977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D97724"/>
                </a:solidFill>
                <a:latin typeface="Arial"/>
              </a:defRPr>
            </a:pPr>
            <a:r>
              <a:t>PROFIL BISNIS &amp; NILAI UTAMA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2A1A12"/>
                </a:solidFill>
                <a:latin typeface="Arial"/>
              </a:defRPr>
            </a:pPr>
            <a:r>
              <a:t>Mengapa Memilih BRWNWEB?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C5B52"/>
                </a:solidFill>
                <a:latin typeface="Calibri"/>
              </a:defRPr>
            </a:pPr>
            <a:r>
              <a:t>Kami hadir memberikan solusi kehadiran digital profesional tanpa biaya membengkak dan tanpa proses rumit.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1206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2240280"/>
            <a:ext cx="502920" cy="502920"/>
          </a:xfrm>
          <a:prstGeom prst="ellipse">
            <a:avLst/>
          </a:prstGeom>
          <a:solidFill>
            <a:srgbClr val="D97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148840"/>
            <a:ext cx="4023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4A2E1B"/>
                </a:solidFill>
              </a:defRPr>
            </a:pPr>
            <a:r>
              <a:t>Desain Modern &amp; Custom</a:t>
            </a:r>
          </a:p>
          <a:p>
            <a:pPr>
              <a:spcBef>
                <a:spcPts val="600"/>
              </a:spcBef>
              <a:defRPr sz="1100">
                <a:solidFill>
                  <a:srgbClr val="6C5B52"/>
                </a:solidFill>
              </a:defRPr>
            </a:pPr>
            <a:r>
              <a:t>Bukan sekadar template instan. Setiap website dirancang estetis, mencerminkan identitas brand usaha Anda, dan memberikan impresi pertama yang memukau.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011680"/>
            <a:ext cx="51206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0" y="2240280"/>
            <a:ext cx="502920" cy="502920"/>
          </a:xfrm>
          <a:prstGeom prst="ellipse">
            <a:avLst/>
          </a:prstGeom>
          <a:solidFill>
            <a:srgbClr val="D97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148840"/>
            <a:ext cx="4023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4A2E1B"/>
                </a:solidFill>
              </a:defRPr>
            </a:pPr>
            <a:r>
              <a:t>100% Mobile First Responsive</a:t>
            </a:r>
          </a:p>
          <a:p>
            <a:pPr>
              <a:spcBef>
                <a:spcPts val="600"/>
              </a:spcBef>
              <a:defRPr sz="1100">
                <a:solidFill>
                  <a:srgbClr val="6C5B52"/>
                </a:solidFill>
              </a:defRPr>
            </a:pPr>
            <a:r>
              <a:t>Lebih dari 80% calon pembeli mengakses lewat smartphone. Website kami dijamin ringan, rapi, dan responsif di semua perangkat Android &amp; iOS.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51206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05840" y="4343400"/>
            <a:ext cx="502920" cy="502920"/>
          </a:xfrm>
          <a:prstGeom prst="ellipse">
            <a:avLst/>
          </a:prstGeom>
          <a:solidFill>
            <a:srgbClr val="D97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251960"/>
            <a:ext cx="4023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4A2E1B"/>
                </a:solidFill>
              </a:defRPr>
            </a:pPr>
            <a:r>
              <a:t>Kecepatan &amp; Tepat Waktu</a:t>
            </a:r>
          </a:p>
          <a:p>
            <a:pPr>
              <a:spcBef>
                <a:spcPts val="600"/>
              </a:spcBef>
              <a:defRPr sz="1100">
                <a:solidFill>
                  <a:srgbClr val="6C5B52"/>
                </a:solidFill>
              </a:defRPr>
            </a:pPr>
            <a:r>
              <a:t>Waktu pengerjaan terukur (1-3 hari untuk undangan/portofolio, 3-7 hari untuk company profile) sehingga usaha Anda segera tampil online.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114800"/>
            <a:ext cx="51206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0" y="4343400"/>
            <a:ext cx="502920" cy="502920"/>
          </a:xfrm>
          <a:prstGeom prst="ellipse">
            <a:avLst/>
          </a:prstGeom>
          <a:solidFill>
            <a:srgbClr val="D97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251960"/>
            <a:ext cx="4023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500">
                <a:solidFill>
                  <a:srgbClr val="4A2E1B"/>
                </a:solidFill>
              </a:defRPr>
            </a:pPr>
            <a:r>
              <a:t>Free Support &amp; Pendampingan</a:t>
            </a:r>
          </a:p>
          <a:p>
            <a:pPr>
              <a:spcBef>
                <a:spcPts val="600"/>
              </a:spcBef>
              <a:defRPr sz="1100">
                <a:solidFill>
                  <a:srgbClr val="6C5B52"/>
                </a:solidFill>
              </a:defRPr>
            </a:pPr>
            <a:r>
              <a:t>Bebas biaya setup dan free pendampingan selama 1 tahun penuh. Tim support siap membantu pertanyaan teknis kapan saja.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F0E4D5"/>
          </a:solidFill>
          <a:ln w="12700">
            <a:solidFill>
              <a:srgbClr val="D977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D97724"/>
                </a:solidFill>
                <a:latin typeface="Arial"/>
              </a:defRPr>
            </a:pPr>
            <a:r>
              <a:t>SOLUSI LENGKAP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2A1A12"/>
                </a:solidFill>
                <a:latin typeface="Arial"/>
              </a:defRPr>
            </a:pPr>
            <a:r>
              <a:t>5 Layanan Pembuatan Website BRWNWEB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C5B52"/>
                </a:solidFill>
                <a:latin typeface="Calibri"/>
              </a:defRPr>
            </a:pPr>
            <a:r>
              <a:t>Dirancang khusus untuk menyesuaikan skala dan tujuan bisnis Anda dengan harga transparan.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2057400" cy="40233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331720"/>
            <a:ext cx="1691640" cy="32004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D97724"/>
                </a:solidFill>
              </a:defRPr>
            </a:pPr>
            <a:r>
              <a:t>LAYANAN 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1783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2A1A12"/>
                </a:solidFill>
              </a:defRPr>
            </a:pPr>
            <a:r>
              <a:t>Company Profile Bisnis</a:t>
            </a:r>
          </a:p>
          <a:p>
            <a:pPr>
              <a:spcBef>
                <a:spcPts val="1000"/>
              </a:spcBef>
              <a:defRPr sz="1000">
                <a:solidFill>
                  <a:srgbClr val="6C5B52"/>
                </a:solidFill>
              </a:defRPr>
            </a:pPr>
            <a:r>
              <a:t>Website resmi profil perusahaan, kantor hukum, manufaktur, dan instansi untuk membangun trust &amp; kredibilitas.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07791" y="2103120"/>
            <a:ext cx="205740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090672" y="2331720"/>
            <a:ext cx="1691640" cy="320040"/>
          </a:xfrm>
          <a:prstGeom prst="roundRect">
            <a:avLst/>
          </a:prstGeom>
          <a:solidFill>
            <a:srgbClr val="F0E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D97724"/>
                </a:solidFill>
              </a:defRPr>
            </a:pPr>
            <a:r>
              <a:t>LAYANAN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4952" y="2834640"/>
            <a:ext cx="1783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2A1A12"/>
                </a:solidFill>
              </a:defRPr>
            </a:pPr>
            <a:r>
              <a:t>Toko Online / E-Commerce</a:t>
            </a:r>
          </a:p>
          <a:p>
            <a:pPr>
              <a:spcBef>
                <a:spcPts val="1000"/>
              </a:spcBef>
              <a:defRPr sz="1000">
                <a:solidFill>
                  <a:srgbClr val="6C5B52"/>
                </a:solidFill>
              </a:defRPr>
            </a:pPr>
            <a:r>
              <a:t>Katalog produk, harga, deskripsi detail, tombol direct checkout WhatsApp, dan integrasi payment gateway.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84064" y="2103120"/>
            <a:ext cx="205740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66944" y="2331720"/>
            <a:ext cx="1691640" cy="320040"/>
          </a:xfrm>
          <a:prstGeom prst="roundRect">
            <a:avLst/>
          </a:prstGeom>
          <a:solidFill>
            <a:srgbClr val="F0E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D97724"/>
                </a:solidFill>
              </a:defRPr>
            </a:pPr>
            <a:r>
              <a:t>LAYANAN 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21224" y="2834640"/>
            <a:ext cx="1783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2A1A12"/>
                </a:solidFill>
              </a:defRPr>
            </a:pPr>
            <a:r>
              <a:t>Portofolio &amp; Personal</a:t>
            </a:r>
          </a:p>
          <a:p>
            <a:pPr>
              <a:spcBef>
                <a:spcPts val="1000"/>
              </a:spcBef>
              <a:defRPr sz="1000">
                <a:solidFill>
                  <a:srgbClr val="6C5B52"/>
                </a:solidFill>
              </a:defRPr>
            </a:pPr>
            <a:r>
              <a:t>Showcase karya, CV online, dan pencapaian personal branding bagi mahasiswa, freelancer, maupun profesional.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0336" y="2103120"/>
            <a:ext cx="205740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43216" y="2331720"/>
            <a:ext cx="1691640" cy="320040"/>
          </a:xfrm>
          <a:prstGeom prst="roundRect">
            <a:avLst/>
          </a:prstGeom>
          <a:solidFill>
            <a:srgbClr val="F0E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D97724"/>
                </a:solidFill>
              </a:defRPr>
            </a:pPr>
            <a:r>
              <a:t>LAYANAN 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7496" y="2834640"/>
            <a:ext cx="1783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2A1A12"/>
                </a:solidFill>
              </a:defRPr>
            </a:pPr>
            <a:r>
              <a:t>Undangan Digital Modern</a:t>
            </a:r>
          </a:p>
          <a:p>
            <a:pPr>
              <a:spcBef>
                <a:spcPts val="1000"/>
              </a:spcBef>
              <a:defRPr sz="1000">
                <a:solidFill>
                  <a:srgbClr val="6C5B52"/>
                </a:solidFill>
              </a:defRPr>
            </a:pPr>
            <a:r>
              <a:t>Website undangan pernikahan interaktif lengkap dengan musik, galeri foto, peta Google Maps, RSVP, &amp; amplop online.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36608" y="2103120"/>
            <a:ext cx="2057400" cy="40233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619488" y="2331720"/>
            <a:ext cx="1691640" cy="320040"/>
          </a:xfrm>
          <a:prstGeom prst="roundRect">
            <a:avLst/>
          </a:prstGeom>
          <a:solidFill>
            <a:srgbClr val="F0EA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900">
                <a:solidFill>
                  <a:srgbClr val="D97724"/>
                </a:solidFill>
              </a:defRPr>
            </a:pPr>
            <a:r>
              <a:t>LAYANAN 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73767" y="2834640"/>
            <a:ext cx="1783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2A1A12"/>
                </a:solidFill>
              </a:defRPr>
            </a:pPr>
            <a:r>
              <a:t>Sistem &amp; Custom Web App</a:t>
            </a:r>
          </a:p>
          <a:p>
            <a:pPr>
              <a:spcBef>
                <a:spcPts val="1000"/>
              </a:spcBef>
              <a:defRPr sz="1000">
                <a:solidFill>
                  <a:srgbClr val="6C5B52"/>
                </a:solidFill>
              </a:defRPr>
            </a:pPr>
            <a:r>
              <a:t>Aplikasi web khusus seperti dashboard nilai, portal data internal, manajemen pesanan, dan otomasi kerja.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2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3D2419"/>
          </a:solidFill>
          <a:ln w="12700">
            <a:solidFill>
              <a:srgbClr val="D977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F59E0B"/>
                </a:solidFill>
                <a:latin typeface="Arial"/>
              </a:defRPr>
            </a:pPr>
            <a:r>
              <a:t>ARSITEKTUR &amp; STANDAR MUTU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  <a:latin typeface="Arial"/>
              </a:defRPr>
            </a:pPr>
            <a:r>
              <a:t>Teknologi Modern yang Kami Gunakan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D1C5BD"/>
                </a:solidFill>
                <a:latin typeface="Calibri"/>
              </a:defRPr>
            </a:pPr>
            <a:r>
              <a:t>Fondasi kode bersih, keamanan terenkripsi, dan infrastruktur cloud berkecepatan tinggi.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2560320" cy="1874519"/>
          </a:xfrm>
          <a:prstGeom prst="roundRect">
            <a:avLst/>
          </a:prstGeom>
          <a:solidFill>
            <a:srgbClr val="2B1B12"/>
          </a:solidFill>
          <a:ln w="12700">
            <a:solidFill>
              <a:srgbClr val="4A2E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148840"/>
            <a:ext cx="22860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59E0B"/>
                </a:solidFill>
              </a:defRPr>
            </a:pPr>
            <a:r>
              <a:t>HTML5 &amp; Semantic</a:t>
            </a:r>
          </a:p>
          <a:p>
            <a:pPr>
              <a:spcBef>
                <a:spcPts val="800"/>
              </a:spcBef>
              <a:defRPr sz="1000">
                <a:solidFill>
                  <a:srgbClr val="D1C5BD"/>
                </a:solidFill>
              </a:defRPr>
            </a:pPr>
            <a:r>
              <a:t>Struktur semantik standar W3C ramah Google Bot dan aksesibel.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2011680"/>
            <a:ext cx="2560320" cy="1874519"/>
          </a:xfrm>
          <a:prstGeom prst="roundRect">
            <a:avLst/>
          </a:prstGeom>
          <a:solidFill>
            <a:srgbClr val="2B1B12"/>
          </a:solidFill>
          <a:ln w="12700">
            <a:solidFill>
              <a:srgbClr val="4A2E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148840"/>
            <a:ext cx="22860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59E0B"/>
                </a:solidFill>
              </a:defRPr>
            </a:pPr>
            <a:r>
              <a:t>CSS3 &amp; Modern Layout</a:t>
            </a:r>
          </a:p>
          <a:p>
            <a:pPr>
              <a:spcBef>
                <a:spcPts val="800"/>
              </a:spcBef>
              <a:defRPr sz="1000">
                <a:solidFill>
                  <a:srgbClr val="D1C5BD"/>
                </a:solidFill>
              </a:defRPr>
            </a:pPr>
            <a:r>
              <a:t>Flexbox, Grid, micro-animations 60fps, dan dark mode switcher.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2011680"/>
            <a:ext cx="2560320" cy="1874519"/>
          </a:xfrm>
          <a:prstGeom prst="roundRect">
            <a:avLst/>
          </a:prstGeom>
          <a:solidFill>
            <a:srgbClr val="2B1B12"/>
          </a:solidFill>
          <a:ln w="12700">
            <a:solidFill>
              <a:srgbClr val="4A2E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148840"/>
            <a:ext cx="22860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59E0B"/>
                </a:solidFill>
              </a:defRPr>
            </a:pPr>
            <a:r>
              <a:t>JavaScript (ES6+)</a:t>
            </a:r>
          </a:p>
          <a:p>
            <a:pPr>
              <a:spcBef>
                <a:spcPts val="800"/>
              </a:spcBef>
              <a:defRPr sz="1000">
                <a:solidFill>
                  <a:srgbClr val="D1C5BD"/>
                </a:solidFill>
              </a:defRPr>
            </a:pPr>
            <a:r>
              <a:t>Logika interaktif dinamis, kalkulator harga, dan modal instan.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2011680"/>
            <a:ext cx="2560320" cy="1874519"/>
          </a:xfrm>
          <a:prstGeom prst="roundRect">
            <a:avLst/>
          </a:prstGeom>
          <a:solidFill>
            <a:srgbClr val="2B1B12"/>
          </a:solidFill>
          <a:ln w="12700">
            <a:solidFill>
              <a:srgbClr val="4A2E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2148840"/>
            <a:ext cx="22860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59E0B"/>
                </a:solidFill>
              </a:defRPr>
            </a:pPr>
            <a:r>
              <a:t>PHP &amp; Backend Engine</a:t>
            </a:r>
          </a:p>
          <a:p>
            <a:pPr>
              <a:spcBef>
                <a:spcPts val="800"/>
              </a:spcBef>
              <a:defRPr sz="1000">
                <a:solidFill>
                  <a:srgbClr val="D1C5BD"/>
                </a:solidFill>
              </a:defRPr>
            </a:pPr>
            <a:r>
              <a:t>Logika pemrosesan server yang stabil, aman, dan modular.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114800"/>
            <a:ext cx="2560320" cy="1874519"/>
          </a:xfrm>
          <a:prstGeom prst="roundRect">
            <a:avLst/>
          </a:prstGeom>
          <a:solidFill>
            <a:srgbClr val="2B1B12"/>
          </a:solidFill>
          <a:ln w="12700">
            <a:solidFill>
              <a:srgbClr val="4A2E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251960"/>
            <a:ext cx="22860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59E0B"/>
                </a:solidFill>
              </a:defRPr>
            </a:pPr>
            <a:r>
              <a:t>Cloud SSD NVMe</a:t>
            </a:r>
          </a:p>
          <a:p>
            <a:pPr>
              <a:spcBef>
                <a:spcPts val="800"/>
              </a:spcBef>
              <a:defRPr sz="1000">
                <a:solidFill>
                  <a:srgbClr val="D1C5BD"/>
                </a:solidFill>
              </a:defRPr>
            </a:pPr>
            <a:r>
              <a:t>Server berkecepatan tinggi dengan jaminan uptime 99.9% 24/7.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29000" y="4114800"/>
            <a:ext cx="2560320" cy="1874519"/>
          </a:xfrm>
          <a:prstGeom prst="roundRect">
            <a:avLst/>
          </a:prstGeom>
          <a:solidFill>
            <a:srgbClr val="2B1B12"/>
          </a:solidFill>
          <a:ln w="12700">
            <a:solidFill>
              <a:srgbClr val="4A2E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4251960"/>
            <a:ext cx="22860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59E0B"/>
                </a:solidFill>
              </a:defRPr>
            </a:pPr>
            <a:r>
              <a:t>SSL Security (HTTPS)</a:t>
            </a:r>
          </a:p>
          <a:p>
            <a:pPr>
              <a:spcBef>
                <a:spcPts val="800"/>
              </a:spcBef>
              <a:defRPr sz="1000">
                <a:solidFill>
                  <a:srgbClr val="D1C5BD"/>
                </a:solidFill>
              </a:defRPr>
            </a:pPr>
            <a:r>
              <a:t>Enkripsi data tingkat tinggi standar bank untuk keamanan transaksi.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4114800"/>
            <a:ext cx="2560320" cy="1874519"/>
          </a:xfrm>
          <a:prstGeom prst="roundRect">
            <a:avLst/>
          </a:prstGeom>
          <a:solidFill>
            <a:srgbClr val="2B1B12"/>
          </a:solidFill>
          <a:ln w="12700">
            <a:solidFill>
              <a:srgbClr val="4A2E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4251960"/>
            <a:ext cx="22860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59E0B"/>
                </a:solidFill>
              </a:defRPr>
            </a:pPr>
            <a:r>
              <a:t>SEO &amp; Analytics</a:t>
            </a:r>
          </a:p>
          <a:p>
            <a:pPr>
              <a:spcBef>
                <a:spcPts val="800"/>
              </a:spcBef>
              <a:defRPr sz="1000">
                <a:solidFill>
                  <a:srgbClr val="D1C5BD"/>
                </a:solidFill>
              </a:defRPr>
            </a:pPr>
            <a:r>
              <a:t>Meta Title, Description, sitemap XML, dan integrasi Google Search.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4114800"/>
            <a:ext cx="2560320" cy="1874519"/>
          </a:xfrm>
          <a:prstGeom prst="roundRect">
            <a:avLst/>
          </a:prstGeom>
          <a:solidFill>
            <a:srgbClr val="2B1B12"/>
          </a:solidFill>
          <a:ln w="12700">
            <a:solidFill>
              <a:srgbClr val="4A2E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4251960"/>
            <a:ext cx="22860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F59E0B"/>
                </a:solidFill>
              </a:defRPr>
            </a:pPr>
            <a:r>
              <a:t>Direct WhatsApp API</a:t>
            </a:r>
          </a:p>
          <a:p>
            <a:pPr>
              <a:spcBef>
                <a:spcPts val="800"/>
              </a:spcBef>
              <a:defRPr sz="1000">
                <a:solidFill>
                  <a:srgbClr val="D1C5BD"/>
                </a:solidFill>
              </a:defRPr>
            </a:pPr>
            <a:r>
              <a:t>Tombol konsultasi instan &amp; sistem checkout form ke WhatsApp.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F0E4D5"/>
          </a:solidFill>
          <a:ln w="12700">
            <a:solidFill>
              <a:srgbClr val="D977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D97724"/>
                </a:solidFill>
                <a:latin typeface="Arial"/>
              </a:defRPr>
            </a:pPr>
            <a:r>
              <a:t>STUDI KASUS &amp; PORTOFOLIO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2A1A12"/>
                </a:solidFill>
                <a:latin typeface="Arial"/>
              </a:defRPr>
            </a:pPr>
            <a:r>
              <a:t>Hasil Pengerjaan Klien Kami (Bagian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C5B52"/>
                </a:solidFill>
                <a:latin typeface="Calibri"/>
              </a:defRPr>
            </a:pPr>
            <a:r>
              <a:t>Website live berstandar profesional yang telah aktif digunakan oleh klien: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1208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ortfolio-mhsadvoka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48840"/>
            <a:ext cx="4937760" cy="2377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46177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4A2E1B"/>
                </a:solidFill>
              </a:defRPr>
            </a:pPr>
            <a:r>
              <a:t>PROJEK TERBARU: MHS &amp; Rekan (Kantor Hukum)</a:t>
            </a:r>
          </a:p>
          <a:p>
            <a:pPr>
              <a:spcBef>
                <a:spcPts val="400"/>
              </a:spcBef>
              <a:defRPr sz="1000">
                <a:solidFill>
                  <a:srgbClr val="6C5B52"/>
                </a:solidFill>
              </a:defRPr>
            </a:pPr>
            <a:r>
              <a:t>• Kategori: Company Profile Law Firm   |   🌐 mhsadvokat.com</a:t>
            </a:r>
            <a:br/>
            <a:r>
              <a:t>• Fitur: Bidang keahlian perkara hukum (litigasi &amp; bisnis), profil advokat terpercaya, studi kasus, dan integrasi konsultasi hukum online responsif.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ortfolio-kemenang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148840"/>
            <a:ext cx="4937760" cy="2377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55080" y="46177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4A2E1B"/>
                </a:solidFill>
              </a:defRPr>
            </a:pPr>
            <a:r>
              <a:t>Kemenangan Signature</a:t>
            </a:r>
          </a:p>
          <a:p>
            <a:pPr>
              <a:spcBef>
                <a:spcPts val="400"/>
              </a:spcBef>
              <a:defRPr sz="1000">
                <a:solidFill>
                  <a:srgbClr val="6C5B52"/>
                </a:solidFill>
              </a:defRPr>
            </a:pPr>
            <a:r>
              <a:t>• Kategori: E-Commerce &amp; Toko Emas   |   🌐 kemenangansignature.com</a:t>
            </a:r>
            <a:br/>
            <a:r>
              <a:t>• Fitur: Platform brand toko emas &amp; perhiasan berlian eksklusif dengan katalog luxury, update harga, serta showcase desain modern berkelas.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F0E4D5"/>
          </a:solidFill>
          <a:ln w="12700">
            <a:solidFill>
              <a:srgbClr val="D977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D97724"/>
                </a:solidFill>
                <a:latin typeface="Arial"/>
              </a:defRPr>
            </a:pPr>
            <a:r>
              <a:t>STUDI KASUS &amp; PORTOFOLIO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2A1A12"/>
                </a:solidFill>
                <a:latin typeface="Arial"/>
              </a:defRPr>
            </a:pPr>
            <a:r>
              <a:t>Hasil Pengerjaan Klien Kami (Bagian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C5B52"/>
                </a:solidFill>
                <a:latin typeface="Calibri"/>
              </a:defRPr>
            </a:pPr>
            <a:r>
              <a:t>Portofolio ragam industri dari manufaktur oli industri hingga undangan wedding interaktif: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521208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ortfolio-castelubei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48840"/>
            <a:ext cx="4937760" cy="23774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46177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4A2E1B"/>
                </a:solidFill>
              </a:defRPr>
            </a:pPr>
            <a:r>
              <a:t>Castelubeindo (PT Caste Lube Indo)</a:t>
            </a:r>
          </a:p>
          <a:p>
            <a:pPr>
              <a:spcBef>
                <a:spcPts val="400"/>
              </a:spcBef>
              <a:defRPr sz="1000">
                <a:solidFill>
                  <a:srgbClr val="6C5B52"/>
                </a:solidFill>
              </a:defRPr>
            </a:pPr>
            <a:r>
              <a:t>• Kategori: Company Profile Industri   |   🌐 castelubeindo.com</a:t>
            </a:r>
            <a:br/>
            <a:r>
              <a:t>• Fitur: Website profil perusahaan manufaktur dan distributor pelumas industri berskala nasional dengan katalog spesifikasi mesin ISO standard.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218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ortfolio-undang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148840"/>
            <a:ext cx="4937760" cy="237744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55080" y="46177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C2185B"/>
                </a:solidFill>
              </a:defRPr>
            </a:pPr>
            <a:r>
              <a:t>Undangan Wedding Digital Modern</a:t>
            </a:r>
          </a:p>
          <a:p>
            <a:pPr>
              <a:spcBef>
                <a:spcPts val="400"/>
              </a:spcBef>
              <a:defRPr sz="1000">
                <a:solidFill>
                  <a:srgbClr val="6C5B52"/>
                </a:solidFill>
              </a:defRPr>
            </a:pPr>
            <a:r>
              <a:t>• Kategori: Undangan Digital (Rp 100rb)   |   🌐 Live Demo Active</a:t>
            </a:r>
            <a:br/>
            <a:r>
              <a:t>• Fitur: Desain romantis premium, musik latar audio otomatis, peta lokasi Google Maps, countdown hari H, RSVP form, dan amplop transfer digital.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F0E4D5"/>
          </a:solidFill>
          <a:ln w="12700">
            <a:solidFill>
              <a:srgbClr val="D977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D97724"/>
                </a:solidFill>
                <a:latin typeface="Arial"/>
              </a:defRPr>
            </a:pPr>
            <a:r>
              <a:t>INVESTASI TRANSPARAN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2A1A12"/>
                </a:solidFill>
                <a:latin typeface="Arial"/>
              </a:defRPr>
            </a:pPr>
            <a:r>
              <a:t>Pilihan Paket Pembuatan Website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C5B52"/>
                </a:solidFill>
                <a:latin typeface="Calibri"/>
              </a:defRPr>
            </a:pPr>
            <a:r>
              <a:t>Biaya masuk akal, tanpa biaya tersembunyi, dan disesuaikan dengan kebutuhan usaha Anda: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1719072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286000"/>
            <a:ext cx="157276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4A2E1B"/>
                </a:solidFill>
              </a:defRPr>
            </a:pPr>
            <a:r>
              <a:t>UNDANGAN DIGITAL</a:t>
            </a:r>
          </a:p>
          <a:p>
            <a:pPr>
              <a:spcBef>
                <a:spcPts val="400"/>
              </a:spcBef>
              <a:defRPr b="1" sz="1500">
                <a:solidFill>
                  <a:srgbClr val="2A1A12"/>
                </a:solidFill>
              </a:defRPr>
            </a:pPr>
            <a:r>
              <a:t>Rp 100.000</a:t>
            </a:r>
          </a:p>
          <a:p>
            <a:pPr>
              <a:defRPr sz="900">
                <a:solidFill>
                  <a:srgbClr val="6C5B52"/>
                </a:solidFill>
              </a:defRPr>
            </a:pPr>
            <a:r>
              <a:t>sekali bayar</a:t>
            </a:r>
          </a:p>
          <a:p>
            <a:pPr>
              <a:spcBef>
                <a:spcPts val="1000"/>
              </a:spcBef>
              <a:defRPr sz="900">
                <a:solidFill>
                  <a:srgbClr val="6C5B52"/>
                </a:solidFill>
              </a:defRPr>
            </a:pPr>
            <a:r>
              <a:t>1 Halaman interaktif, musik backsound, galeri, Google Maps, RSVP, amplop digital.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42032" y="2103120"/>
            <a:ext cx="1719072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15184" y="2286000"/>
            <a:ext cx="157276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4A2E1B"/>
                </a:solidFill>
              </a:defRPr>
            </a:pPr>
            <a:r>
              <a:t>PORTOFOLIO</a:t>
            </a:r>
          </a:p>
          <a:p>
            <a:pPr>
              <a:spcBef>
                <a:spcPts val="400"/>
              </a:spcBef>
              <a:defRPr b="1" sz="1500">
                <a:solidFill>
                  <a:srgbClr val="2A1A12"/>
                </a:solidFill>
              </a:defRPr>
            </a:pPr>
            <a:r>
              <a:t>Rp 500.000</a:t>
            </a:r>
          </a:p>
          <a:p>
            <a:pPr>
              <a:defRPr sz="900">
                <a:solidFill>
                  <a:srgbClr val="6C5B52"/>
                </a:solidFill>
              </a:defRPr>
            </a:pPr>
            <a:r>
              <a:t>sekali bayar</a:t>
            </a:r>
          </a:p>
          <a:p>
            <a:pPr>
              <a:spcBef>
                <a:spcPts val="1000"/>
              </a:spcBef>
              <a:defRPr sz="900">
                <a:solidFill>
                  <a:srgbClr val="6C5B52"/>
                </a:solidFill>
              </a:defRPr>
            </a:pPr>
            <a:r>
              <a:t>1-2 Halaman profil personal / CV ringkas, showcase portofolio karya, kontak WhatsApp.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52544" y="2103120"/>
            <a:ext cx="1719072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25696" y="2286000"/>
            <a:ext cx="157276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4A2E1B"/>
                </a:solidFill>
              </a:defRPr>
            </a:pPr>
            <a:r>
              <a:t>STARTER UMKM</a:t>
            </a:r>
          </a:p>
          <a:p>
            <a:pPr>
              <a:spcBef>
                <a:spcPts val="400"/>
              </a:spcBef>
              <a:defRPr b="1" sz="1500">
                <a:solidFill>
                  <a:srgbClr val="2A1A12"/>
                </a:solidFill>
              </a:defRPr>
            </a:pPr>
            <a:r>
              <a:t>Rp 3.000.000</a:t>
            </a:r>
          </a:p>
          <a:p>
            <a:pPr>
              <a:defRPr sz="900">
                <a:solidFill>
                  <a:srgbClr val="6C5B52"/>
                </a:solidFill>
              </a:defRPr>
            </a:pPr>
            <a:r>
              <a:t>/ tahun</a:t>
            </a:r>
          </a:p>
          <a:p>
            <a:pPr>
              <a:spcBef>
                <a:spcPts val="1000"/>
              </a:spcBef>
              <a:defRPr sz="900">
                <a:solidFill>
                  <a:srgbClr val="6C5B52"/>
                </a:solidFill>
              </a:defRPr>
            </a:pPr>
            <a:r>
              <a:t>Up to 5 Halaman custom, FREE Domain .com 1 Thn, FREE Cloud SSD 1 Thn, SSL, 1 Email.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63055" y="2103120"/>
            <a:ext cx="1719072" cy="41148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D977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00216" y="2240280"/>
            <a:ext cx="1444752" cy="274320"/>
          </a:xfrm>
          <a:prstGeom prst="roundRect">
            <a:avLst/>
          </a:prstGeom>
          <a:solidFill>
            <a:srgbClr val="D97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800">
                <a:solidFill>
                  <a:srgbClr val="FFFFFF"/>
                </a:solidFill>
              </a:defRPr>
            </a:pPr>
            <a:r>
              <a:t>TERFAVORIT 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36207" y="2560320"/>
            <a:ext cx="157276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4A2E1B"/>
                </a:solidFill>
              </a:defRPr>
            </a:pPr>
            <a:r>
              <a:t>BUSINESS ⭐</a:t>
            </a:r>
          </a:p>
          <a:p>
            <a:pPr>
              <a:spcBef>
                <a:spcPts val="400"/>
              </a:spcBef>
              <a:defRPr b="1" sz="1500">
                <a:solidFill>
                  <a:srgbClr val="D97724"/>
                </a:solidFill>
              </a:defRPr>
            </a:pPr>
            <a:r>
              <a:t>Rp 5.000.000</a:t>
            </a:r>
          </a:p>
          <a:p>
            <a:pPr>
              <a:defRPr sz="900">
                <a:solidFill>
                  <a:srgbClr val="6C5B52"/>
                </a:solidFill>
              </a:defRPr>
            </a:pPr>
            <a:r>
              <a:t>/ tahun</a:t>
            </a:r>
          </a:p>
          <a:p>
            <a:pPr>
              <a:spcBef>
                <a:spcPts val="1000"/>
              </a:spcBef>
              <a:defRPr sz="900">
                <a:solidFill>
                  <a:srgbClr val="6C5B52"/>
                </a:solidFill>
              </a:defRPr>
            </a:pPr>
            <a:r>
              <a:t>Up to 10 Halaman lengkap, FREE Domain &amp; SSD Cloud 1 Thn, SEO On-Page, 3 Email Bisnis.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73568" y="2103120"/>
            <a:ext cx="1719072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2286000"/>
            <a:ext cx="157276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4A2E1B"/>
                </a:solidFill>
              </a:defRPr>
            </a:pPr>
            <a:r>
              <a:t>PROFESSIONAL</a:t>
            </a:r>
          </a:p>
          <a:p>
            <a:pPr>
              <a:spcBef>
                <a:spcPts val="400"/>
              </a:spcBef>
              <a:defRPr b="1" sz="1500">
                <a:solidFill>
                  <a:srgbClr val="2A1A12"/>
                </a:solidFill>
              </a:defRPr>
            </a:pPr>
            <a:r>
              <a:t>Rp 10.000.000</a:t>
            </a:r>
          </a:p>
          <a:p>
            <a:pPr>
              <a:defRPr sz="900">
                <a:solidFill>
                  <a:srgbClr val="6C5B52"/>
                </a:solidFill>
              </a:defRPr>
            </a:pPr>
            <a:r>
              <a:t>/ tahun</a:t>
            </a:r>
          </a:p>
          <a:p>
            <a:pPr>
              <a:spcBef>
                <a:spcPts val="1000"/>
              </a:spcBef>
              <a:defRPr sz="900">
                <a:solidFill>
                  <a:srgbClr val="6C5B52"/>
                </a:solidFill>
              </a:defRPr>
            </a:pPr>
            <a:r>
              <a:t>Up to 20 Halaman dynamic, High-Performance Cloud, Advanced SEO, Proteksi Anti-DDoS.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84080" y="2103120"/>
            <a:ext cx="1719072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57232" y="2286000"/>
            <a:ext cx="1572768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4A2E1B"/>
                </a:solidFill>
              </a:defRPr>
            </a:pPr>
            <a:r>
              <a:t>ENTERPRISE</a:t>
            </a:r>
          </a:p>
          <a:p>
            <a:pPr>
              <a:spcBef>
                <a:spcPts val="400"/>
              </a:spcBef>
              <a:defRPr b="1" sz="1500">
                <a:solidFill>
                  <a:srgbClr val="2A1A12"/>
                </a:solidFill>
              </a:defRPr>
            </a:pPr>
            <a:r>
              <a:t>Rp 15.000.000</a:t>
            </a:r>
          </a:p>
          <a:p>
            <a:pPr>
              <a:defRPr sz="900">
                <a:solidFill>
                  <a:srgbClr val="6C5B52"/>
                </a:solidFill>
              </a:defRPr>
            </a:pPr>
            <a:r>
              <a:t>/ tahun</a:t>
            </a:r>
          </a:p>
          <a:p>
            <a:pPr>
              <a:spcBef>
                <a:spcPts val="1000"/>
              </a:spcBef>
              <a:defRPr sz="900">
                <a:solidFill>
                  <a:srgbClr val="6C5B52"/>
                </a:solidFill>
              </a:defRPr>
            </a:pPr>
            <a:r>
              <a:t>Full Web App / E-Commerce, Payment Gateway, Dashboard Admin Custom, Dedicated Support.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F0E4D5"/>
          </a:solidFill>
          <a:ln w="12700">
            <a:solidFill>
              <a:srgbClr val="D977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D97724"/>
                </a:solidFill>
                <a:latin typeface="Arial"/>
              </a:defRPr>
            </a:pPr>
            <a:r>
              <a:t>NILAI TAMBAH SPESIAL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2A1A12"/>
                </a:solidFill>
                <a:latin typeface="Arial"/>
              </a:defRPr>
            </a:pPr>
            <a:r>
              <a:t>Semua Paket Bisnis Sudah Termasuk: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C5B52"/>
                </a:solidFill>
                <a:latin typeface="Calibri"/>
              </a:defRPr>
            </a:pPr>
            <a:r>
              <a:t>Anda tidak perlu membayar biaya terpisah untuk server, domain, keamanan, dan pemeliharaan.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60120" y="2331720"/>
            <a:ext cx="411480" cy="411480"/>
          </a:xfrm>
          <a:prstGeom prst="ellipse">
            <a:avLst/>
          </a:prstGeom>
          <a:solidFill>
            <a:srgbClr val="DCFCE7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22C55E"/>
                </a:solidFill>
              </a:defRPr>
            </a:pPr>
            <a: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240280"/>
            <a:ext cx="2514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4A2E1B"/>
                </a:solidFill>
              </a:defRPr>
            </a:pPr>
            <a:r>
              <a:t>FREE Nama Domain Resmi</a:t>
            </a:r>
          </a:p>
          <a:p>
            <a:pPr>
              <a:spcBef>
                <a:spcPts val="600"/>
              </a:spcBef>
              <a:defRPr sz="1000">
                <a:solidFill>
                  <a:srgbClr val="6C5B52"/>
                </a:solidFill>
              </a:defRPr>
            </a:pPr>
            <a:r>
              <a:t>Mendapatkan domain resmi (.com / .id / .my.id) gratis selama 1 tahun pertama tanpa biaya registrasi.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210312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53712" y="2331720"/>
            <a:ext cx="411480" cy="411480"/>
          </a:xfrm>
          <a:prstGeom prst="ellipse">
            <a:avLst/>
          </a:prstGeom>
          <a:solidFill>
            <a:srgbClr val="DCFCE7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22C55E"/>
                </a:solidFill>
              </a:defRPr>
            </a:pPr>
            <a: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56632" y="2240280"/>
            <a:ext cx="2514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4A2E1B"/>
                </a:solidFill>
              </a:defRPr>
            </a:pPr>
            <a:r>
              <a:t>FREE Server Cloud SSD 1 Tahun</a:t>
            </a:r>
          </a:p>
          <a:p>
            <a:pPr>
              <a:spcBef>
                <a:spcPts val="600"/>
              </a:spcBef>
              <a:defRPr sz="1000">
                <a:solidFill>
                  <a:srgbClr val="6C5B52"/>
                </a:solidFill>
              </a:defRPr>
            </a:pPr>
            <a:r>
              <a:t>Website di-hosting di server cloud SSD NVMe berkecepatan tinggi dengan jaminan aktif 24 jam non-stop.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18704" y="210312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147304" y="2331720"/>
            <a:ext cx="411480" cy="411480"/>
          </a:xfrm>
          <a:prstGeom prst="ellipse">
            <a:avLst/>
          </a:prstGeom>
          <a:solidFill>
            <a:srgbClr val="DCFCE7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22C55E"/>
                </a:solidFill>
              </a:defRPr>
            </a:pPr>
            <a: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50224" y="2240280"/>
            <a:ext cx="2514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4A2E1B"/>
                </a:solidFill>
              </a:defRPr>
            </a:pPr>
            <a:r>
              <a:t>FREE Sertifikat Keamanan SSL</a:t>
            </a:r>
          </a:p>
          <a:p>
            <a:pPr>
              <a:spcBef>
                <a:spcPts val="600"/>
              </a:spcBef>
              <a:defRPr sz="1000">
                <a:solidFill>
                  <a:srgbClr val="6C5B52"/>
                </a:solidFill>
              </a:defRPr>
            </a:pPr>
            <a:r>
              <a:t>Enkripsi HTTPS bersertifikat resmi agar website aman dari bahaya siber dan bertanda gembok hijau aman di Google.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20624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" y="4434840"/>
            <a:ext cx="411480" cy="411480"/>
          </a:xfrm>
          <a:prstGeom prst="ellipse">
            <a:avLst/>
          </a:prstGeom>
          <a:solidFill>
            <a:srgbClr val="DCFCE7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22C55E"/>
                </a:solidFill>
              </a:defRPr>
            </a:pPr>
            <a: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343400"/>
            <a:ext cx="2514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4A2E1B"/>
                </a:solidFill>
              </a:defRPr>
            </a:pPr>
            <a:r>
              <a:t>FREE Alamat Email Bisnis</a:t>
            </a:r>
          </a:p>
          <a:p>
            <a:pPr>
              <a:spcBef>
                <a:spcPts val="600"/>
              </a:spcBef>
              <a:defRPr sz="1000">
                <a:solidFill>
                  <a:srgbClr val="6C5B52"/>
                </a:solidFill>
              </a:defRPr>
            </a:pPr>
            <a:r>
              <a:t>Email resmi sesuai domain (contoh: info@bisnisanda.com) untuk memperkuat citra profesional brand.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25112" y="420624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53712" y="4434840"/>
            <a:ext cx="411480" cy="411480"/>
          </a:xfrm>
          <a:prstGeom prst="ellipse">
            <a:avLst/>
          </a:prstGeom>
          <a:solidFill>
            <a:srgbClr val="DCFCE7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22C55E"/>
                </a:solidFill>
              </a:defRPr>
            </a:pPr>
            <a: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6632" y="4343400"/>
            <a:ext cx="2514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4A2E1B"/>
                </a:solidFill>
              </a:defRPr>
            </a:pPr>
            <a:r>
              <a:t>FREE Basic Image &amp; Logo Editing</a:t>
            </a:r>
          </a:p>
          <a:p>
            <a:pPr>
              <a:spcBef>
                <a:spcPts val="600"/>
              </a:spcBef>
              <a:defRPr sz="1000">
                <a:solidFill>
                  <a:srgbClr val="6C5B52"/>
                </a:solidFill>
              </a:defRPr>
            </a:pPr>
            <a:r>
              <a:t>Bantuan merapikan foto produk, kompresi gambar agar loading super cepat, dan penyesuaian logo usaha.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918704" y="4206240"/>
            <a:ext cx="338328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147304" y="4434840"/>
            <a:ext cx="411480" cy="411480"/>
          </a:xfrm>
          <a:prstGeom prst="ellipse">
            <a:avLst/>
          </a:prstGeom>
          <a:solidFill>
            <a:srgbClr val="DCFCE7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300">
                <a:solidFill>
                  <a:srgbClr val="22C55E"/>
                </a:solidFill>
              </a:defRPr>
            </a:pPr>
            <a: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50224" y="4343400"/>
            <a:ext cx="25146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4A2E1B"/>
                </a:solidFill>
              </a:defRPr>
            </a:pPr>
            <a:r>
              <a:t>FREE Maintenance &amp; Garansi</a:t>
            </a:r>
          </a:p>
          <a:p>
            <a:pPr>
              <a:spcBef>
                <a:spcPts val="600"/>
              </a:spcBef>
              <a:defRPr sz="1000">
                <a:solidFill>
                  <a:srgbClr val="6C5B52"/>
                </a:solidFill>
              </a:defRPr>
            </a:pPr>
            <a:r>
              <a:t>Pemeliharaan teknis rutin selama 1 tahun penuh untuk memastikan website selalu stabil dan bebas kendala.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2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3D2419"/>
          </a:solidFill>
          <a:ln w="12700">
            <a:solidFill>
              <a:srgbClr val="D977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F59E0B"/>
                </a:solidFill>
                <a:latin typeface="Arial"/>
              </a:defRPr>
            </a:pPr>
            <a:r>
              <a:t>TRANSPARAN &amp; PRAKTIS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FFFFFF"/>
                </a:solidFill>
                <a:latin typeface="Arial"/>
              </a:defRPr>
            </a:pPr>
            <a:r>
              <a:t>4 Langkah Mudah Memulai Website Anda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D1C5BD"/>
                </a:solidFill>
                <a:latin typeface="Calibri"/>
              </a:defRPr>
            </a:pPr>
            <a:r>
              <a:t>Proses pemesanan mudah, alur pengerjaan jelas, dan hasil dapat langsung direview sebelum go-live.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2560320" cy="3931920"/>
          </a:xfrm>
          <a:prstGeom prst="roundRect">
            <a:avLst/>
          </a:prstGeom>
          <a:solidFill>
            <a:srgbClr val="2B1B12"/>
          </a:solidFill>
          <a:ln w="12700">
            <a:solidFill>
              <a:srgbClr val="4A2E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2423160"/>
            <a:ext cx="2103120" cy="411480"/>
          </a:xfrm>
          <a:prstGeom prst="roundRect">
            <a:avLst/>
          </a:prstGeom>
          <a:solidFill>
            <a:srgbClr val="D97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LANGKAH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Konsultasi &amp; Pilih Paket</a:t>
            </a:r>
          </a:p>
          <a:p>
            <a:pPr>
              <a:spcBef>
                <a:spcPts val="1200"/>
              </a:spcBef>
              <a:defRPr sz="1100">
                <a:solidFill>
                  <a:srgbClr val="D1C5BD"/>
                </a:solidFill>
              </a:defRPr>
            </a:pPr>
            <a:r>
              <a:t>Diskusikan kebutuhan website dan target audiens bisnis Anda melalui WhatsApp untuk memilih paket yang paling tepat.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194560"/>
            <a:ext cx="2560320" cy="3931920"/>
          </a:xfrm>
          <a:prstGeom prst="roundRect">
            <a:avLst/>
          </a:prstGeom>
          <a:solidFill>
            <a:srgbClr val="2B1B12"/>
          </a:solidFill>
          <a:ln w="12700">
            <a:solidFill>
              <a:srgbClr val="4A2E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7600" y="2423160"/>
            <a:ext cx="2103120" cy="411480"/>
          </a:xfrm>
          <a:prstGeom prst="roundRect">
            <a:avLst/>
          </a:prstGeom>
          <a:solidFill>
            <a:srgbClr val="D97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LANGKAH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01752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Kirimkan Logo &amp; Materi</a:t>
            </a:r>
          </a:p>
          <a:p>
            <a:pPr>
              <a:spcBef>
                <a:spcPts val="1200"/>
              </a:spcBef>
              <a:defRPr sz="1100">
                <a:solidFill>
                  <a:srgbClr val="D1C5BD"/>
                </a:solidFill>
              </a:defRPr>
            </a:pPr>
            <a:r>
              <a:t>Kirimkan materi logo, foto produk, dan profil usaha. Belum ada materi? Tim kami siap membantu menyusunnya.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194560"/>
            <a:ext cx="2560320" cy="3931920"/>
          </a:xfrm>
          <a:prstGeom prst="roundRect">
            <a:avLst/>
          </a:prstGeom>
          <a:solidFill>
            <a:srgbClr val="2B1B12"/>
          </a:solidFill>
          <a:ln w="12700">
            <a:solidFill>
              <a:srgbClr val="4A2E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355080" y="2423160"/>
            <a:ext cx="2103120" cy="411480"/>
          </a:xfrm>
          <a:prstGeom prst="roundRect">
            <a:avLst/>
          </a:prstGeom>
          <a:solidFill>
            <a:srgbClr val="D97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LANGKAH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01752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Pengerjaan &amp; Review</a:t>
            </a:r>
          </a:p>
          <a:p>
            <a:pPr>
              <a:spcBef>
                <a:spcPts val="1200"/>
              </a:spcBef>
              <a:defRPr sz="1100">
                <a:solidFill>
                  <a:srgbClr val="D1C5BD"/>
                </a:solidFill>
              </a:defRPr>
            </a:pPr>
            <a:r>
              <a:t>Website dibangun dalam 2 - 7 hari kerja. Anda mendapatkan link draft online untuk direview dan disesuaikan.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2194560"/>
            <a:ext cx="2560320" cy="3931920"/>
          </a:xfrm>
          <a:prstGeom prst="roundRect">
            <a:avLst/>
          </a:prstGeom>
          <a:solidFill>
            <a:srgbClr val="2B1B12"/>
          </a:solidFill>
          <a:ln w="12700">
            <a:solidFill>
              <a:srgbClr val="4A2E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052560" y="2423160"/>
            <a:ext cx="2103120" cy="411480"/>
          </a:xfrm>
          <a:prstGeom prst="roundRect">
            <a:avLst/>
          </a:prstGeom>
          <a:solidFill>
            <a:srgbClr val="D97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</a:defRPr>
            </a:pPr>
            <a:r>
              <a:t>LANGKAH 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301752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FFFFFF"/>
                </a:solidFill>
              </a:defRPr>
            </a:pPr>
            <a:r>
              <a:t>Pelunasan &amp; Website Live!</a:t>
            </a:r>
          </a:p>
          <a:p>
            <a:pPr>
              <a:spcBef>
                <a:spcPts val="1200"/>
              </a:spcBef>
              <a:defRPr sz="1100">
                <a:solidFill>
                  <a:srgbClr val="D1C5BD"/>
                </a:solidFill>
              </a:defRPr>
            </a:pPr>
            <a:r>
              <a:t>Setelah hasil disetujui, domain resmi diaktifkan dan website Anda siap dipromosikan ke seluruh dunia.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926080" cy="347472"/>
          </a:xfrm>
          <a:prstGeom prst="roundRect">
            <a:avLst/>
          </a:prstGeom>
          <a:solidFill>
            <a:srgbClr val="F0E4D5"/>
          </a:solidFill>
          <a:ln w="12700">
            <a:solidFill>
              <a:srgbClr val="D977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00">
                <a:solidFill>
                  <a:srgbClr val="D97724"/>
                </a:solidFill>
                <a:latin typeface="Arial"/>
              </a:defRPr>
            </a:pPr>
            <a:r>
              <a:t>HUBUNGI TIM KAMI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600">
                <a:solidFill>
                  <a:srgbClr val="2A1A12"/>
                </a:solidFill>
                <a:latin typeface="Arial"/>
              </a:defRPr>
            </a:pPr>
            <a:r>
              <a:t>Mulai Konsultasi Website Bisnis Anda Hari Ini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6C5B52"/>
                </a:solidFill>
                <a:latin typeface="Calibri"/>
              </a:defRPr>
            </a:pPr>
            <a:r>
              <a:t>Tim konsultan kami siap berdiskusi langsung untuk merancang website terbaik sesuai kebutuhan usaha Anda.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83280" cy="3108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977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057400" y="2377440"/>
            <a:ext cx="731520" cy="731520"/>
          </a:xfrm>
          <a:prstGeom prst="ellipse">
            <a:avLst/>
          </a:prstGeom>
          <a:solidFill>
            <a:srgbClr val="D977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FFFFFF"/>
                </a:solidFill>
              </a:defRPr>
            </a:pPr>
            <a:r>
              <a:t>JE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700">
                <a:solidFill>
                  <a:srgbClr val="4A2E1B"/>
                </a:solidFill>
              </a:defRPr>
            </a:pPr>
            <a:r>
              <a:t>JEVON</a:t>
            </a:r>
          </a:p>
          <a:p>
            <a:pPr algn="ctr">
              <a:spcBef>
                <a:spcPts val="200"/>
              </a:spcBef>
              <a:defRPr sz="1100">
                <a:solidFill>
                  <a:srgbClr val="6C5B52"/>
                </a:solidFill>
              </a:defRPr>
            </a:pPr>
            <a:r>
              <a:t>Konsultan Utama BRWNWEB</a:t>
            </a:r>
          </a:p>
          <a:p>
            <a:pPr algn="ctr">
              <a:spcBef>
                <a:spcPts val="800"/>
              </a:spcBef>
              <a:defRPr b="1" sz="1400">
                <a:solidFill>
                  <a:srgbClr val="22C55E"/>
                </a:solidFill>
              </a:defRPr>
            </a:pPr>
            <a:r>
              <a:t>+62 812-8532-4814</a:t>
            </a:r>
          </a:p>
          <a:p>
            <a:pPr algn="ctr">
              <a:spcBef>
                <a:spcPts val="400"/>
              </a:spcBef>
              <a:defRPr sz="1000">
                <a:solidFill>
                  <a:srgbClr val="6C5B52"/>
                </a:solidFill>
              </a:defRPr>
            </a:pPr>
            <a:r>
              <a:t>Lead Web Developer &amp;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5112" y="2103120"/>
            <a:ext cx="33832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50992" y="2377440"/>
            <a:ext cx="731520" cy="731520"/>
          </a:xfrm>
          <a:prstGeom prst="ellipse">
            <a:avLst/>
          </a:prstGeom>
          <a:solidFill>
            <a:srgbClr val="FAE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4A2E1B"/>
                </a:solidFill>
              </a:defRPr>
            </a:pPr>
            <a:r>
              <a:t>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32461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700">
                <a:solidFill>
                  <a:srgbClr val="4A2E1B"/>
                </a:solidFill>
              </a:defRPr>
            </a:pPr>
            <a:r>
              <a:t>AMOZ</a:t>
            </a:r>
          </a:p>
          <a:p>
            <a:pPr algn="ctr">
              <a:spcBef>
                <a:spcPts val="200"/>
              </a:spcBef>
              <a:defRPr sz="1100">
                <a:solidFill>
                  <a:srgbClr val="6C5B52"/>
                </a:solidFill>
              </a:defRPr>
            </a:pPr>
            <a:r>
              <a:t>Tim Konsultasi BRWNWEB</a:t>
            </a:r>
          </a:p>
          <a:p>
            <a:pPr algn="ctr">
              <a:spcBef>
                <a:spcPts val="800"/>
              </a:spcBef>
              <a:defRPr b="1" sz="1400">
                <a:solidFill>
                  <a:srgbClr val="22C55E"/>
                </a:solidFill>
              </a:defRPr>
            </a:pPr>
            <a:r>
              <a:t>+62 813-1609-8209</a:t>
            </a:r>
          </a:p>
          <a:p>
            <a:pPr algn="ctr">
              <a:spcBef>
                <a:spcPts val="400"/>
              </a:spcBef>
              <a:defRPr sz="1000">
                <a:solidFill>
                  <a:srgbClr val="6C5B52"/>
                </a:solidFill>
              </a:defRPr>
            </a:pPr>
            <a:r>
              <a:t>Client Relation &amp; Project Consultant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18704" y="2103120"/>
            <a:ext cx="3383280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6DC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244584" y="2377440"/>
            <a:ext cx="731520" cy="731520"/>
          </a:xfrm>
          <a:prstGeom prst="ellipse">
            <a:avLst/>
          </a:prstGeom>
          <a:solidFill>
            <a:srgbClr val="FAED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1400">
                <a:solidFill>
                  <a:srgbClr val="4A2E1B"/>
                </a:solidFill>
              </a:defRPr>
            </a:pPr>
            <a:r>
              <a:t>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55864" y="32461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sz="1700">
                <a:solidFill>
                  <a:srgbClr val="4A2E1B"/>
                </a:solidFill>
              </a:defRPr>
            </a:pPr>
            <a:r>
              <a:t>TAMARA</a:t>
            </a:r>
          </a:p>
          <a:p>
            <a:pPr algn="ctr">
              <a:spcBef>
                <a:spcPts val="200"/>
              </a:spcBef>
              <a:defRPr sz="1100">
                <a:solidFill>
                  <a:srgbClr val="6C5B52"/>
                </a:solidFill>
              </a:defRPr>
            </a:pPr>
            <a:r>
              <a:t>Tim Konsultasi BRWNWEB</a:t>
            </a:r>
          </a:p>
          <a:p>
            <a:pPr algn="ctr">
              <a:spcBef>
                <a:spcPts val="800"/>
              </a:spcBef>
              <a:defRPr b="1" sz="1400">
                <a:solidFill>
                  <a:srgbClr val="22C55E"/>
                </a:solidFill>
              </a:defRPr>
            </a:pPr>
            <a:r>
              <a:t>+62 857-8222-8570</a:t>
            </a:r>
          </a:p>
          <a:p>
            <a:pPr algn="ctr">
              <a:spcBef>
                <a:spcPts val="400"/>
              </a:spcBef>
              <a:defRPr sz="1000">
                <a:solidFill>
                  <a:srgbClr val="6C5B52"/>
                </a:solidFill>
              </a:defRPr>
            </a:pPr>
            <a:r>
              <a:t>Customer Support &amp; Content Advisor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440680"/>
            <a:ext cx="10725912" cy="1005840"/>
          </a:xfrm>
          <a:prstGeom prst="roundRect">
            <a:avLst/>
          </a:prstGeom>
          <a:solidFill>
            <a:srgbClr val="1E120B"/>
          </a:solidFill>
          <a:ln w="12700">
            <a:solidFill>
              <a:srgbClr val="D977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59E0B"/>
                </a:solidFill>
              </a:defRPr>
            </a:pPr>
            <a:r>
              <a:t>Siap Membuat Website Impian Bisnis Anda?</a:t>
            </a:r>
          </a:p>
          <a:p>
            <a:pPr algn="ctr">
              <a:spcBef>
                <a:spcPts val="400"/>
              </a:spcBef>
              <a:defRPr sz="1200">
                <a:solidFill>
                  <a:srgbClr val="FFFFFF"/>
                </a:solidFill>
              </a:defRPr>
            </a:pPr>
            <a:r>
              <a:t>Kunjungi Live Website: https://brwnweb-official.vercel.app/   |   Konsultasi Gratis via WhatsApp 24/7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